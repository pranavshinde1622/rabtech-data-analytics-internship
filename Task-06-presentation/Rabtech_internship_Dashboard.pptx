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412480" y="914400"/>
            <a:ext cx="914400" cy="914400"/>
          </a:xfrm>
          <a:prstGeom prst="roundRect">
            <a:avLst/>
          </a:prstGeom>
          <a:solidFill>
            <a:srgbClr val="14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464040" y="1508760"/>
            <a:ext cx="685800" cy="685800"/>
          </a:xfrm>
          <a:prstGeom prst="roundRect">
            <a:avLst/>
          </a:prstGeom>
          <a:solidFill>
            <a:srgbClr val="276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241280" y="777240"/>
            <a:ext cx="1143000" cy="1143000"/>
          </a:xfrm>
          <a:prstGeom prst="roundRect">
            <a:avLst/>
          </a:prstGeom>
          <a:solidFill>
            <a:srgbClr val="E7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23960" y="2834640"/>
            <a:ext cx="23774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823960" y="3520440"/>
            <a:ext cx="1828800" cy="502920"/>
          </a:xfrm>
          <a:prstGeom prst="roundRect">
            <a:avLst/>
          </a:prstGeom>
          <a:solidFill>
            <a:srgbClr val="14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823960" y="4206240"/>
            <a:ext cx="2560320" cy="502920"/>
          </a:xfrm>
          <a:prstGeom prst="roundRect">
            <a:avLst/>
          </a:prstGeom>
          <a:solidFill>
            <a:srgbClr val="276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749808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2DEE9"/>
                </a:solidFill>
              </a:defRPr>
            </a:pPr>
            <a:r>
              <a:t>RABTECH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25880"/>
            <a:ext cx="74980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</a:defRPr>
            </a:pPr>
            <a:r>
              <a:t>Executive Decision Report</a:t>
            </a:r>
            <a:br/>
            <a:r>
              <a:t>&amp; Capstone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88920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7E5F3"/>
                </a:solidFill>
              </a:defRPr>
            </a:pPr>
            <a:r>
              <a:t>Retail Sales Analytics • Based on the submitted Power BI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52044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CFE0"/>
                </a:solidFill>
              </a:defRPr>
            </a:pPr>
            <a:r>
              <a:t>This report translates the actual dashboard structure into an executive decision story: KPIs → revenue drivers → customer and payment views → risks → actions.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983480"/>
            <a:ext cx="1965960" cy="384048"/>
          </a:xfrm>
          <a:prstGeom prst="roundRect">
            <a:avLst/>
          </a:prstGeom>
          <a:solidFill>
            <a:srgbClr val="14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507492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POWER BI DASHBOARD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6352" y="4983480"/>
            <a:ext cx="1417320" cy="384048"/>
          </a:xfrm>
          <a:prstGeom prst="roundRect">
            <a:avLst/>
          </a:prstGeom>
          <a:solidFill>
            <a:srgbClr val="276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16352" y="5074920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EDA → BI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4983480"/>
            <a:ext cx="1737360" cy="384048"/>
          </a:xfrm>
          <a:prstGeom prst="roundRect">
            <a:avLst/>
          </a:prstGeom>
          <a:solidFill>
            <a:srgbClr val="E7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70832" y="50749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EXECUTIVE 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1.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EDDEE"/>
                </a:solidFill>
              </a:defRPr>
            </a:pPr>
            <a:r>
              <a:t>Decision brief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60120"/>
            <a:ext cx="2606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73152" cy="1188720"/>
          </a:xfrm>
          <a:prstGeom prst="rect">
            <a:avLst/>
          </a:prstGeom>
          <a:solidFill>
            <a:srgbClr val="276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097280"/>
            <a:ext cx="2221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399032"/>
            <a:ext cx="2221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22A42"/>
                </a:solidFill>
              </a:defRPr>
            </a:pPr>
            <a:r>
              <a:t>Total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1764793"/>
            <a:ext cx="2221992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36F7E"/>
                </a:solidFill>
              </a:defRPr>
            </a:pPr>
            <a:r>
              <a:rPr dirty="0"/>
              <a:t>Total Sales is the primary executive revenue card.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960120"/>
            <a:ext cx="2606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37560" y="960120"/>
            <a:ext cx="73152" cy="1188720"/>
          </a:xfrm>
          <a:prstGeom prst="rect">
            <a:avLst/>
          </a:prstGeom>
          <a:solidFill>
            <a:srgbClr val="14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38728" y="1097280"/>
            <a:ext cx="2221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Volume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399032"/>
            <a:ext cx="2221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22A42"/>
                </a:solidFill>
              </a:defRPr>
            </a:pPr>
            <a:r>
              <a:t>Total Transactions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1705356"/>
            <a:ext cx="2221992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36F7E"/>
                </a:solidFill>
              </a:defRPr>
            </a:pPr>
            <a:r>
              <a:rPr dirty="0"/>
              <a:t>Total Transactions provides the activity baseline.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960120"/>
            <a:ext cx="2606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960120"/>
            <a:ext cx="73152" cy="1188720"/>
          </a:xfrm>
          <a:prstGeom prst="rect">
            <a:avLst/>
          </a:prstGeom>
          <a:solidFill>
            <a:srgbClr val="695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7648" y="1097280"/>
            <a:ext cx="2221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Reach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1399032"/>
            <a:ext cx="2221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22A42"/>
                </a:solidFill>
              </a:defRPr>
            </a:pPr>
            <a:r>
              <a:t>unique 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728905"/>
            <a:ext cx="2221992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36F7E"/>
                </a:solidFill>
              </a:defRPr>
            </a:pPr>
            <a:r>
              <a:rPr dirty="0"/>
              <a:t>unique Customers shows customer coverage.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960120"/>
            <a:ext cx="2606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15400" y="960120"/>
            <a:ext cx="73152" cy="1188720"/>
          </a:xfrm>
          <a:prstGeom prst="rect">
            <a:avLst/>
          </a:prstGeom>
          <a:solidFill>
            <a:srgbClr val="E7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16568" y="1097280"/>
            <a:ext cx="2221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Price field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8" y="1399032"/>
            <a:ext cx="2221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22A42"/>
                </a:solidFill>
              </a:defRPr>
            </a:pPr>
            <a:r>
              <a:t>Price / Unit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8" y="1828800"/>
            <a:ext cx="2221992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36F7E"/>
                </a:solidFill>
              </a:defRPr>
            </a:pPr>
            <a:r>
              <a:t>Current card uses SUM(price_per_unit).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468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22A42"/>
                </a:solidFill>
              </a:defRPr>
            </a:pPr>
            <a:r>
              <a:t>What the current dashboard enables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907792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6303D"/>
                </a:solidFill>
              </a:defRPr>
            </a:pPr>
            <a:r>
              <a:rPr dirty="0"/>
              <a:t>• Time-based monitoring through the transaction-date slicer and monthly sales trend.</a:t>
            </a:r>
          </a:p>
          <a:p>
            <a:pPr>
              <a:spcAft>
                <a:spcPts val="900"/>
              </a:spcAft>
              <a:defRPr sz="1300">
                <a:solidFill>
                  <a:srgbClr val="26303D"/>
                </a:solidFill>
              </a:defRPr>
            </a:pPr>
            <a:r>
              <a:rPr dirty="0"/>
              <a:t>• Revenue-driver analysis by category and item.</a:t>
            </a:r>
          </a:p>
          <a:p>
            <a:pPr>
              <a:spcAft>
                <a:spcPts val="900"/>
              </a:spcAft>
              <a:defRPr sz="1300">
                <a:solidFill>
                  <a:srgbClr val="26303D"/>
                </a:solidFill>
              </a:defRPr>
            </a:pPr>
            <a:r>
              <a:rPr dirty="0"/>
              <a:t>• Payment-method mix and spend comparison.</a:t>
            </a:r>
          </a:p>
          <a:p>
            <a:pPr>
              <a:spcAft>
                <a:spcPts val="900"/>
              </a:spcAft>
              <a:defRPr sz="1300">
                <a:solidFill>
                  <a:srgbClr val="26303D"/>
                </a:solidFill>
              </a:defRPr>
            </a:pPr>
            <a:r>
              <a:rPr dirty="0"/>
              <a:t>• Customer distribution by location.</a:t>
            </a:r>
          </a:p>
          <a:p>
            <a:pPr>
              <a:spcAft>
                <a:spcPts val="900"/>
              </a:spcAft>
              <a:defRPr sz="1300">
                <a:solidFill>
                  <a:srgbClr val="26303D"/>
                </a:solidFill>
              </a:defRPr>
            </a:pPr>
            <a:r>
              <a:rPr dirty="0"/>
              <a:t>• Cross-filtering across the dashboard visuals through Power BI interactions.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468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22A42"/>
                </a:solidFill>
              </a:defRPr>
            </a:pPr>
            <a:r>
              <a:t>Executive interpretation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889503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22492" y="2907792"/>
            <a:ext cx="73152" cy="960120"/>
          </a:xfrm>
          <a:prstGeom prst="rect">
            <a:avLst/>
          </a:prstGeom>
          <a:solidFill>
            <a:srgbClr val="14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64807" y="3044952"/>
            <a:ext cx="4782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Core decision question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3273552"/>
            <a:ext cx="4782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rPr dirty="0"/>
              <a:t>Which months, categories, items, locations and payment methods contribute most to sales and customer activity?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041648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63640" y="4041648"/>
            <a:ext cx="73152" cy="960120"/>
          </a:xfrm>
          <a:prstGeom prst="rect">
            <a:avLst/>
          </a:prstGeom>
          <a:solidFill>
            <a:srgbClr val="C0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64807" y="4178808"/>
            <a:ext cx="4782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Current limitation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7" y="4517136"/>
            <a:ext cx="4782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t>CAC, churn, profit and true margin are not represented by the current dashboard fields/measures.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5175504"/>
            <a:ext cx="51663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63640" y="5175504"/>
            <a:ext cx="73152" cy="685800"/>
          </a:xfrm>
          <a:prstGeom prst="rect">
            <a:avLst/>
          </a:prstGeom>
          <a:solidFill>
            <a:srgbClr val="695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64807" y="5312664"/>
            <a:ext cx="4782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Management focus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4807" y="5650992"/>
            <a:ext cx="4782312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t>Use the dashboard for sales performance now; add customer and cost data before expanding strategic KPIs.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" y="6473952"/>
            <a:ext cx="11292840" cy="18288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2. Dashboard KPI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EDDEE"/>
                </a:solidFill>
              </a:defRPr>
            </a:pPr>
            <a:r>
              <a:t>What the submitted PBIX contains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73152" cy="1508760"/>
          </a:xfrm>
          <a:prstGeom prst="rect">
            <a:avLst/>
          </a:prstGeom>
          <a:solidFill>
            <a:srgbClr val="276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280160"/>
            <a:ext cx="2130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Total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618488"/>
            <a:ext cx="213055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rPr dirty="0"/>
              <a:t>Executive revenue KPI</a:t>
            </a:r>
            <a:endParaRPr lang="en-US" dirty="0"/>
          </a:p>
          <a:p>
            <a:pPr algn="l">
              <a:defRPr sz="1050" b="0">
                <a:solidFill>
                  <a:srgbClr val="26303D"/>
                </a:solidFill>
              </a:defRPr>
            </a:pPr>
            <a:endParaRPr lang="en-US" dirty="0"/>
          </a:p>
          <a:p>
            <a:pPr algn="ctr">
              <a:defRPr sz="1050" b="0">
                <a:solidFill>
                  <a:srgbClr val="26303D"/>
                </a:solidFill>
              </a:defRPr>
            </a:pPr>
            <a:r>
              <a:rPr lang="en-US" sz="2500" b="1" dirty="0"/>
              <a:t>1998</a:t>
            </a:r>
            <a:endParaRPr sz="2500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3429000" y="11430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1143000"/>
            <a:ext cx="73152" cy="1508760"/>
          </a:xfrm>
          <a:prstGeom prst="rect">
            <a:avLst/>
          </a:prstGeom>
          <a:solidFill>
            <a:srgbClr val="14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0168" y="1280160"/>
            <a:ext cx="2130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Total Transactions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1618488"/>
            <a:ext cx="213055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rPr dirty="0"/>
              <a:t>Transaction-volume KPI</a:t>
            </a:r>
            <a:endParaRPr lang="en-US" dirty="0"/>
          </a:p>
          <a:p>
            <a:pPr algn="ctr">
              <a:defRPr sz="1050" b="0">
                <a:solidFill>
                  <a:srgbClr val="26303D"/>
                </a:solidFill>
              </a:defRPr>
            </a:pPr>
            <a:endParaRPr lang="en-IN" dirty="0"/>
          </a:p>
          <a:p>
            <a:pPr algn="ctr">
              <a:defRPr sz="1050" b="0">
                <a:solidFill>
                  <a:srgbClr val="26303D"/>
                </a:solidFill>
              </a:defRPr>
            </a:pPr>
            <a:r>
              <a:rPr lang="en-IN" sz="2500" b="1" dirty="0"/>
              <a:t>16</a:t>
            </a:r>
            <a:endParaRPr sz="2500" b="1" dirty="0"/>
          </a:p>
        </p:txBody>
      </p:sp>
      <p:sp>
        <p:nvSpPr>
          <p:cNvPr id="14" name="Rounded Rectangle 13"/>
          <p:cNvSpPr/>
          <p:nvPr/>
        </p:nvSpPr>
        <p:spPr>
          <a:xfrm>
            <a:off x="6263640" y="11430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143000"/>
            <a:ext cx="73152" cy="1508760"/>
          </a:xfrm>
          <a:prstGeom prst="rect">
            <a:avLst/>
          </a:prstGeom>
          <a:solidFill>
            <a:srgbClr val="695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8" y="1280160"/>
            <a:ext cx="2130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unique 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1544831"/>
            <a:ext cx="213055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rPr dirty="0"/>
              <a:t>Customer reach KPI</a:t>
            </a:r>
            <a:endParaRPr lang="en-US" dirty="0"/>
          </a:p>
          <a:p>
            <a:pPr algn="ctr">
              <a:defRPr sz="1050" b="0">
                <a:solidFill>
                  <a:srgbClr val="26303D"/>
                </a:solidFill>
              </a:defRPr>
            </a:pPr>
            <a:endParaRPr lang="en-IN" dirty="0"/>
          </a:p>
          <a:p>
            <a:pPr algn="ctr">
              <a:defRPr sz="1050" b="0">
                <a:solidFill>
                  <a:srgbClr val="26303D"/>
                </a:solidFill>
              </a:defRPr>
            </a:pPr>
            <a:r>
              <a:rPr lang="en-IN" sz="2500" b="1" dirty="0"/>
              <a:t>16</a:t>
            </a:r>
            <a:endParaRPr sz="2500" b="1" dirty="0"/>
          </a:p>
        </p:txBody>
      </p:sp>
      <p:sp>
        <p:nvSpPr>
          <p:cNvPr id="18" name="Rounded Rectangle 17"/>
          <p:cNvSpPr/>
          <p:nvPr/>
        </p:nvSpPr>
        <p:spPr>
          <a:xfrm>
            <a:off x="9098280" y="11430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98280" y="1143000"/>
            <a:ext cx="73152" cy="1508760"/>
          </a:xfrm>
          <a:prstGeom prst="rect">
            <a:avLst/>
          </a:prstGeom>
          <a:solidFill>
            <a:srgbClr val="E7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9448" y="1280160"/>
            <a:ext cx="21305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rPr lang="en-US" dirty="0"/>
              <a:t>Average price </a:t>
            </a:r>
            <a:r>
              <a:rPr dirty="0"/>
              <a:t>per Unit)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1618488"/>
            <a:ext cx="2130552" cy="638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rPr dirty="0"/>
              <a:t>Current price field aggregation</a:t>
            </a:r>
            <a:endParaRPr lang="en-US" dirty="0"/>
          </a:p>
          <a:p>
            <a:pPr algn="ctr">
              <a:defRPr sz="1050" b="0">
                <a:solidFill>
                  <a:srgbClr val="26303D"/>
                </a:solidFill>
              </a:defRPr>
            </a:pPr>
            <a:r>
              <a:rPr lang="en-IN" sz="2500" b="1" dirty="0"/>
              <a:t>25.44</a:t>
            </a:r>
            <a:endParaRPr sz="25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40080" y="3063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2A42"/>
                </a:solidFill>
              </a:defRPr>
            </a:pPr>
            <a:r>
              <a:t>Recommended executive labeling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566160"/>
            <a:ext cx="106527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69417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22A42"/>
                </a:solidFill>
              </a:defRPr>
            </a:pPr>
            <a:r>
              <a:t>Total Sales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3694176"/>
            <a:ext cx="7589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t>Keep as the headline revenue KPI.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160520"/>
            <a:ext cx="106527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28853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22A42"/>
                </a:solidFill>
              </a:defRPr>
            </a:pPr>
            <a:r>
              <a:t>Total Transactions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4288536"/>
            <a:ext cx="7589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t>Use with Total Sales to derive a transaction-value view.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754880"/>
            <a:ext cx="106527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488289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22A42"/>
                </a:solidFill>
              </a:defRPr>
            </a:pPr>
            <a:r>
              <a:t>unique Customers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4882896"/>
            <a:ext cx="7589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t>Use to monitor reach; add repeat-customer rate later.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349240"/>
            <a:ext cx="106527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5477255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22A42"/>
                </a:solidFill>
              </a:defRPr>
            </a:pPr>
            <a:r>
              <a:t>SUM(Price per Unit)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5477255"/>
            <a:ext cx="7589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t>Change to Average Price per Unit if the intention is to show a typical price.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" y="6473952"/>
            <a:ext cx="11292840" cy="18288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3. Revenue 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EDDEE"/>
                </a:solidFill>
              </a:defRPr>
            </a:pPr>
            <a:r>
              <a:t>How the dashboard explains sales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51560"/>
            <a:ext cx="10972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051560"/>
            <a:ext cx="73152" cy="1234440"/>
          </a:xfrm>
          <a:prstGeom prst="rect">
            <a:avLst/>
          </a:prstGeom>
          <a:solidFill>
            <a:srgbClr val="276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188719"/>
            <a:ext cx="10588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Monthly trend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527048"/>
            <a:ext cx="1058875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t>Line chart: month_name × Total Sales. Use this to identify seasonality, peaks, dips and periods requiring investigation.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39"/>
            <a:ext cx="10972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606039"/>
            <a:ext cx="73152" cy="1234440"/>
          </a:xfrm>
          <a:prstGeom prst="rect">
            <a:avLst/>
          </a:prstGeom>
          <a:solidFill>
            <a:srgbClr val="14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2743199"/>
            <a:ext cx="10588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Category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081527"/>
            <a:ext cx="1058875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t>Column chart: category × Total Sales. Use this to compare category contribution and prioritize commercial attention.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160520"/>
            <a:ext cx="10972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4160520"/>
            <a:ext cx="73152" cy="1234440"/>
          </a:xfrm>
          <a:prstGeom prst="rect">
            <a:avLst/>
          </a:prstGeom>
          <a:solidFill>
            <a:srgbClr val="E7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4297680"/>
            <a:ext cx="10588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Item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636008"/>
            <a:ext cx="1058875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t>Line chart: item × total_spent. Useful for item comparison, but a sorted bar chart would usually improve readability.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6473952"/>
            <a:ext cx="11292840" cy="18288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4. Customer &amp; Location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EDDEE"/>
                </a:solidFill>
              </a:defRPr>
            </a:pPr>
            <a:r>
              <a:t>Reach and geographic concentration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73152" cy="1417320"/>
          </a:xfrm>
          <a:prstGeom prst="rect">
            <a:avLst/>
          </a:prstGeom>
          <a:solidFill>
            <a:srgbClr val="695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188719"/>
            <a:ext cx="4873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Customer reach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527048"/>
            <a:ext cx="487375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t>The unique Customers card establishes the size of the active customer base represented by the selected date range.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5156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051560"/>
            <a:ext cx="73152" cy="1417320"/>
          </a:xfrm>
          <a:prstGeom prst="rect">
            <a:avLst/>
          </a:prstGeom>
          <a:solidFill>
            <a:srgbClr val="276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188719"/>
            <a:ext cx="4873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Location 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527048"/>
            <a:ext cx="487375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t>The location donut maps unique customers across locations, supporting channel/geographic concentration analysis.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2A42"/>
                </a:solidFill>
              </a:defRPr>
            </a:pPr>
            <a:r>
              <a:t>Decision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832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6303D"/>
                </a:solidFill>
              </a:defRPr>
            </a:pPr>
            <a:r>
              <a:t>• Compare customer concentration across locations before allocating sales or service resources.</a:t>
            </a:r>
          </a:p>
          <a:p>
            <a:pPr>
              <a:spcAft>
                <a:spcPts val="900"/>
              </a:spcAft>
              <a:defRPr sz="1300">
                <a:solidFill>
                  <a:srgbClr val="26303D"/>
                </a:solidFill>
              </a:defRPr>
            </a:pPr>
            <a:r>
              <a:t>• Combine location with monthly sales to distinguish high-volume markets from high-value markets.</a:t>
            </a:r>
          </a:p>
          <a:p>
            <a:pPr>
              <a:spcAft>
                <a:spcPts val="900"/>
              </a:spcAft>
              <a:defRPr sz="1300">
                <a:solidFill>
                  <a:srgbClr val="26303D"/>
                </a:solidFill>
              </a:defRPr>
            </a:pPr>
            <a:r>
              <a:t>• Add Customer ID history and repeat-purchase measures to turn reach into retention analysis.</a:t>
            </a:r>
          </a:p>
          <a:p>
            <a:pPr>
              <a:spcAft>
                <a:spcPts val="900"/>
              </a:spcAft>
              <a:defRPr sz="1300">
                <a:solidFill>
                  <a:srgbClr val="26303D"/>
                </a:solidFill>
              </a:defRPr>
            </a:pPr>
            <a:r>
              <a:t>• Add acquisition source/campaign fields if management needs CAC or acquisition-efficiency decisions.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6473952"/>
            <a:ext cx="11292840" cy="18288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5. Payment Method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EDDEE"/>
                </a:solidFill>
              </a:defRPr>
            </a:pPr>
            <a:r>
              <a:t>Mix, spend and operational insight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73152" cy="1600200"/>
          </a:xfrm>
          <a:prstGeom prst="rect">
            <a:avLst/>
          </a:prstGeom>
          <a:solidFill>
            <a:srgbClr val="276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188719"/>
            <a:ext cx="2999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Sales mix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527048"/>
            <a:ext cx="2999232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t>Donut chart uses payment_method × Total Sales.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5156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051560"/>
            <a:ext cx="73152" cy="1600200"/>
          </a:xfrm>
          <a:prstGeom prst="rect">
            <a:avLst/>
          </a:prstGeom>
          <a:solidFill>
            <a:srgbClr val="14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188719"/>
            <a:ext cx="2999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Spend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527048"/>
            <a:ext cx="2999232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t>Clustered bar uses payment_method × SUM(total_spent).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5156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051560"/>
            <a:ext cx="73152" cy="1600200"/>
          </a:xfrm>
          <a:prstGeom prst="rect">
            <a:avLst/>
          </a:prstGeom>
          <a:solidFill>
            <a:srgbClr val="E7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8" y="1188719"/>
            <a:ext cx="2999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Opportunity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1527048"/>
            <a:ext cx="2999232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t>Use one visual for mix and the second for average spend/transaction count to reduce duplication.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017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2A42"/>
                </a:solidFill>
              </a:defRPr>
            </a:pPr>
            <a:r>
              <a:t>Recommended executive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6303D"/>
                </a:solidFill>
              </a:defRPr>
            </a:pPr>
            <a:r>
              <a:t>• Which payment method contributes the largest share of sales?</a:t>
            </a:r>
          </a:p>
          <a:p>
            <a:pPr>
              <a:spcAft>
                <a:spcPts val="900"/>
              </a:spcAft>
              <a:defRPr sz="1300">
                <a:solidFill>
                  <a:srgbClr val="26303D"/>
                </a:solidFill>
              </a:defRPr>
            </a:pPr>
            <a:r>
              <a:t>• Does the highest-volume method also have the highest spend per transaction?</a:t>
            </a:r>
          </a:p>
          <a:p>
            <a:pPr>
              <a:spcAft>
                <a:spcPts val="900"/>
              </a:spcAft>
              <a:defRPr sz="1300">
                <a:solidFill>
                  <a:srgbClr val="26303D"/>
                </a:solidFill>
              </a:defRPr>
            </a:pPr>
            <a:r>
              <a:t>• Are there meaningful differences in payment behavior between Online and In-store locations?</a:t>
            </a:r>
          </a:p>
          <a:p>
            <a:pPr>
              <a:spcAft>
                <a:spcPts val="900"/>
              </a:spcAft>
              <a:defRPr sz="1300">
                <a:solidFill>
                  <a:srgbClr val="26303D"/>
                </a:solidFill>
              </a:defRPr>
            </a:pPr>
            <a:r>
              <a:t>• Could payment-method preferences guide promotions, checkout design or operational support?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" y="6473952"/>
            <a:ext cx="11292840" cy="18288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6. Analytical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EDDEE"/>
                </a:solidFill>
              </a:defRPr>
            </a:pPr>
            <a:r>
              <a:t>Task 04 → Task 05 → Task 06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143000"/>
            <a:ext cx="658368" cy="658368"/>
          </a:xfrm>
          <a:prstGeom prst="ellipse">
            <a:avLst/>
          </a:prstGeom>
          <a:solidFill>
            <a:srgbClr val="276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53312"/>
            <a:ext cx="6583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0574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22A42"/>
                </a:solidFill>
              </a:defRPr>
            </a:pPr>
            <a:r>
              <a:t>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59" y="2487168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03D"/>
                </a:solidFill>
              </a:defRPr>
            </a:pPr>
            <a:r>
              <a:t>Prepared analysis-ready retail transaction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3075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36F7E"/>
                </a:solidFill>
              </a:defRPr>
            </a:pPr>
            <a: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2880360" y="1143000"/>
            <a:ext cx="658368" cy="658368"/>
          </a:xfrm>
          <a:prstGeom prst="ellipse">
            <a:avLst/>
          </a:prstGeom>
          <a:solidFill>
            <a:srgbClr val="14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80360" y="1353312"/>
            <a:ext cx="6583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0574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22A42"/>
                </a:solidFill>
              </a:defRPr>
            </a:pPr>
            <a:r>
              <a:t>Explore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487168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03D"/>
                </a:solidFill>
              </a:defRPr>
            </a:pPr>
            <a:r>
              <a:t>Examined distributions, categories, customers, locations and payment behavior.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3075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36F7E"/>
                </a:solidFill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5120640" y="1143000"/>
            <a:ext cx="658368" cy="658368"/>
          </a:xfrm>
          <a:prstGeom prst="ellipse">
            <a:avLst/>
          </a:prstGeom>
          <a:solidFill>
            <a:srgbClr val="695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0" y="1353312"/>
            <a:ext cx="6583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0574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22A42"/>
                </a:solidFill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487168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03D"/>
                </a:solidFill>
              </a:defRPr>
            </a:pPr>
            <a:r>
              <a:t>Created Power BI measures such as Total Sales, Total Transactions and unique Customers.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3075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36F7E"/>
                </a:solidFill>
              </a:defRPr>
            </a:pPr>
            <a: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7360920" y="1143000"/>
            <a:ext cx="658368" cy="658368"/>
          </a:xfrm>
          <a:prstGeom prst="ellipse">
            <a:avLst/>
          </a:prstGeom>
          <a:solidFill>
            <a:srgbClr val="E7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0920" y="1353312"/>
            <a:ext cx="6583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0574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22A42"/>
                </a:solidFill>
              </a:defRPr>
            </a:pPr>
            <a:r>
              <a:t>Visualize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487168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03D"/>
                </a:solidFill>
              </a:defRPr>
            </a:pPr>
            <a:r>
              <a:t>Built KPI cards, slicer, trend and categorical visuals.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13075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36F7E"/>
                </a:solidFill>
              </a:defRPr>
            </a:pPr>
            <a: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9601200" y="1143000"/>
            <a:ext cx="658368" cy="658368"/>
          </a:xfrm>
          <a:prstGeom prst="ellipse">
            <a:avLst/>
          </a:prstGeom>
          <a:solidFill>
            <a:srgbClr val="309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0" y="1353312"/>
            <a:ext cx="6583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0574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22A42"/>
                </a:solidFill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2487168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03D"/>
                </a:solidFill>
              </a:defRPr>
            </a:pPr>
            <a:r>
              <a:t>Translate dashboard signals into actions, risks and implementation priorities.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25196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77240" y="4251960"/>
            <a:ext cx="73152" cy="1234440"/>
          </a:xfrm>
          <a:prstGeom prst="rect">
            <a:avLst/>
          </a:prstGeom>
          <a:solidFill>
            <a:srgbClr val="14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8408" y="4389120"/>
            <a:ext cx="4690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Traceability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" y="4727448"/>
            <a:ext cx="469087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t>Every recommendation in this report is tied to a visible dashboard component or to a clearly stated data gap.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25196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20" y="4251960"/>
            <a:ext cx="73152" cy="1234440"/>
          </a:xfrm>
          <a:prstGeom prst="rect">
            <a:avLst/>
          </a:prstGeom>
          <a:solidFill>
            <a:srgbClr val="C0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19088" y="4389120"/>
            <a:ext cx="4690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Scope discipline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4727448"/>
            <a:ext cx="469087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t>No CAC, churn or profit number is invented where the current dashboard does not contain the necessary inputs.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" y="6473952"/>
            <a:ext cx="11292840" cy="18288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7. Key Findings from the Dashboard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EDDEE"/>
                </a:solidFill>
              </a:defRPr>
            </a:pPr>
            <a:r>
              <a:t>Executive takeaways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960120"/>
            <a:ext cx="566928" cy="566928"/>
          </a:xfrm>
          <a:prstGeom prst="ellipse">
            <a:avLst/>
          </a:prstGeom>
          <a:solidFill>
            <a:srgbClr val="276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143000"/>
            <a:ext cx="5669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905256"/>
            <a:ext cx="100126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417320" y="905256"/>
            <a:ext cx="73152" cy="713232"/>
          </a:xfrm>
          <a:prstGeom prst="rect">
            <a:avLst/>
          </a:prstGeom>
          <a:solidFill>
            <a:srgbClr val="276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18488" y="1042415"/>
            <a:ext cx="9628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Sales performance is time-sensitive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8488" y="1380744"/>
            <a:ext cx="9628632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t>The monthly Total Sales trend should be the first place to identify peaks, declines and seasonality.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920240"/>
            <a:ext cx="566928" cy="566928"/>
          </a:xfrm>
          <a:prstGeom prst="ellipse">
            <a:avLst/>
          </a:prstGeom>
          <a:solidFill>
            <a:srgbClr val="14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2103120"/>
            <a:ext cx="5669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1865376"/>
            <a:ext cx="100126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417320" y="1865376"/>
            <a:ext cx="73152" cy="713232"/>
          </a:xfrm>
          <a:prstGeom prst="rect">
            <a:avLst/>
          </a:prstGeom>
          <a:solidFill>
            <a:srgbClr val="14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18488" y="2002536"/>
            <a:ext cx="9628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Category mix is a direct revenue lever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8488" y="2340864"/>
            <a:ext cx="9628632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t>The category column chart makes category-level contribution visible for prioritization.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2880360"/>
            <a:ext cx="566928" cy="566928"/>
          </a:xfrm>
          <a:prstGeom prst="ellipse">
            <a:avLst/>
          </a:prstGeom>
          <a:solidFill>
            <a:srgbClr val="695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3063240"/>
            <a:ext cx="5669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17320" y="2825496"/>
            <a:ext cx="100126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417320" y="2825496"/>
            <a:ext cx="73152" cy="713232"/>
          </a:xfrm>
          <a:prstGeom prst="rect">
            <a:avLst/>
          </a:prstGeom>
          <a:solidFill>
            <a:srgbClr val="695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18488" y="2962656"/>
            <a:ext cx="9628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Customer reach has a geographic dimension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8488" y="3300984"/>
            <a:ext cx="9628632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t>The location donut connects unique-customer reach to market/channel concentration.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" y="3840480"/>
            <a:ext cx="566928" cy="566928"/>
          </a:xfrm>
          <a:prstGeom prst="ellipse">
            <a:avLst/>
          </a:prstGeom>
          <a:solidFill>
            <a:srgbClr val="E7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4023360"/>
            <a:ext cx="5669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17320" y="3785616"/>
            <a:ext cx="100126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417320" y="3785616"/>
            <a:ext cx="73152" cy="713232"/>
          </a:xfrm>
          <a:prstGeom prst="rect">
            <a:avLst/>
          </a:prstGeom>
          <a:solidFill>
            <a:srgbClr val="E7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618488" y="3922776"/>
            <a:ext cx="9628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Payment behavior can inform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18488" y="4261104"/>
            <a:ext cx="9628632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t>Two payment visuals provide both mix and spend perspectives, creating a basis for payment optimization.</a:t>
            </a:r>
          </a:p>
        </p:txBody>
      </p:sp>
      <p:sp>
        <p:nvSpPr>
          <p:cNvPr id="30" name="Oval 29"/>
          <p:cNvSpPr/>
          <p:nvPr/>
        </p:nvSpPr>
        <p:spPr>
          <a:xfrm>
            <a:off x="658368" y="4800600"/>
            <a:ext cx="566928" cy="566928"/>
          </a:xfrm>
          <a:prstGeom prst="ellipse">
            <a:avLst/>
          </a:prstGeom>
          <a:solidFill>
            <a:srgbClr val="C0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" y="4983480"/>
            <a:ext cx="5669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17320" y="4745736"/>
            <a:ext cx="100126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417320" y="4745736"/>
            <a:ext cx="73152" cy="713232"/>
          </a:xfrm>
          <a:prstGeom prst="rect">
            <a:avLst/>
          </a:prstGeom>
          <a:solidFill>
            <a:srgbClr val="C0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618488" y="4882896"/>
            <a:ext cx="9628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The dashboard needs a stronger retention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18488" y="5221224"/>
            <a:ext cx="9628632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t>Unique Customers measures reach, but CAC, repeat purchase and churn require additional customer-history and acquisition fields.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" y="6473952"/>
            <a:ext cx="11292840" cy="18288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8. Risk Areas &amp; Data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EDDEE"/>
                </a:solidFill>
              </a:defRPr>
            </a:pPr>
            <a:r>
              <a:t>Before using the dashboard for C-suite decisions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51663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73152" cy="1554480"/>
          </a:xfrm>
          <a:prstGeom prst="rect">
            <a:avLst/>
          </a:prstGeom>
          <a:solidFill>
            <a:srgbClr val="C0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188719"/>
            <a:ext cx="4782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CAC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527048"/>
            <a:ext cx="47823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t>No acquisition spend or acquisition-source field is represented in the submitted dashboard.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51560"/>
            <a:ext cx="51663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051560"/>
            <a:ext cx="73152" cy="1554480"/>
          </a:xfrm>
          <a:prstGeom prst="rect">
            <a:avLst/>
          </a:prstGeom>
          <a:solidFill>
            <a:srgbClr val="E7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8" y="1188719"/>
            <a:ext cx="4782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Churn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1527048"/>
            <a:ext cx="47823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t>No explicit repeat-purchase/inactivity measure is represented; unique Customers alone is not churn.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26079"/>
            <a:ext cx="51663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926079"/>
            <a:ext cx="73152" cy="1554480"/>
          </a:xfrm>
          <a:prstGeom prst="rect">
            <a:avLst/>
          </a:prstGeom>
          <a:solidFill>
            <a:srgbClr val="695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3063239"/>
            <a:ext cx="4782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Profit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401568"/>
            <a:ext cx="47823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t>Sales/spend are present, but cost of goods sold and operating costs are not visible.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926079"/>
            <a:ext cx="51663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2926079"/>
            <a:ext cx="73152" cy="1554480"/>
          </a:xfrm>
          <a:prstGeom prst="rect">
            <a:avLst/>
          </a:prstGeom>
          <a:solidFill>
            <a:srgbClr val="276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4808" y="3063239"/>
            <a:ext cx="4782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Price aggregation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3401568"/>
            <a:ext cx="47823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t>The current fourth KPI uses SUM(price_per_unit); this can be misleading if the intended KPI is average price.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983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2A42"/>
                </a:solidFill>
              </a:defRPr>
            </a:pPr>
            <a:r>
              <a:t>Data model additions for the next 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9496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26303D"/>
                </a:solidFill>
              </a:defRPr>
            </a:pPr>
            <a:r>
              <a:t>• Customer ID + first purchase date + last purchase date + acquisition channel + campaign spend + product cost/margin.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" y="6473952"/>
            <a:ext cx="11292840" cy="18288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9. Strategic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EDDEE"/>
                </a:solidFill>
              </a:defRPr>
            </a:pPr>
            <a:r>
              <a:t>Three actionable priorities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14400"/>
            <a:ext cx="914400" cy="1170432"/>
          </a:xfrm>
          <a:prstGeom prst="roundRect">
            <a:avLst/>
          </a:prstGeom>
          <a:solidFill>
            <a:srgbClr val="14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32588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98755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2A42"/>
                </a:solidFill>
              </a:defRPr>
            </a:pPr>
            <a:r>
              <a:t>Turn the dashboard into a sales-performance cockpit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389888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303D"/>
                </a:solidFill>
              </a:defRPr>
            </a:pPr>
            <a:r>
              <a:t>Set a weekly review around Total Sales, Transactions, monthly trend and category mix. Use the date slicer to compare periods and investigate major movements.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107899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36F7E"/>
                </a:solidFill>
              </a:defRPr>
            </a:pPr>
            <a:r>
              <a:t>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4173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4918E"/>
                </a:solidFill>
              </a:defRPr>
            </a:pPr>
            <a:r>
              <a:t>Commercial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542032"/>
            <a:ext cx="914400" cy="1170432"/>
          </a:xfrm>
          <a:prstGeom prst="roundRect">
            <a:avLst/>
          </a:prstGeom>
          <a:solidFill>
            <a:srgbClr val="E7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295351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615184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2A42"/>
                </a:solidFill>
              </a:defRPr>
            </a:pPr>
            <a:r>
              <a:t>Optimize payment and market/channel behavior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01752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303D"/>
                </a:solidFill>
              </a:defRPr>
            </a:pPr>
            <a:r>
              <a:t>Use payment-method and location views together. Test whether payment mix or channel concentration is associated with meaningful differences in transaction value.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706624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36F7E"/>
                </a:solidFill>
              </a:defRPr>
            </a:pPr>
            <a:r>
              <a:t>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04495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7822B"/>
                </a:solidFill>
              </a:defRPr>
            </a:pPr>
            <a:r>
              <a:t>Operations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169664"/>
            <a:ext cx="914400" cy="1170432"/>
          </a:xfrm>
          <a:prstGeom prst="roundRect">
            <a:avLst/>
          </a:prstGeom>
          <a:solidFill>
            <a:srgbClr val="695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4581144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242816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2A42"/>
                </a:solidFill>
              </a:defRPr>
            </a:pPr>
            <a:r>
              <a:t>Build the missing customer-economics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645152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303D"/>
                </a:solidFill>
              </a:defRPr>
            </a:pPr>
            <a:r>
              <a:t>Add acquisition source/cost, customer history and product cost so the next dashboard can support CAC, retention, churn and margin decisions.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4334256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36F7E"/>
                </a:solidFill>
              </a:defRPr>
            </a:pPr>
            <a:r>
              <a:t>OWNER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467258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952A9"/>
                </a:solidFill>
              </a:defRPr>
            </a:pPr>
            <a:r>
              <a:t>Data / CRM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10. ROI Logic &amp; Implementation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EDDEE"/>
                </a:solidFill>
              </a:defRPr>
            </a:pPr>
            <a:r>
              <a:t>90-day 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333756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73152" cy="2788920"/>
          </a:xfrm>
          <a:prstGeom prst="rect">
            <a:avLst/>
          </a:prstGeom>
          <a:solidFill>
            <a:srgbClr val="276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234439"/>
            <a:ext cx="29535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Standardize KPI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572768"/>
            <a:ext cx="2953512" cy="2167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t>Lock KPI definitions, rename/adjust the price KPI, document data sources and create a weekly dashboard review.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097280"/>
            <a:ext cx="333756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097280"/>
            <a:ext cx="73152" cy="2788920"/>
          </a:xfrm>
          <a:prstGeom prst="rect">
            <a:avLst/>
          </a:prstGeom>
          <a:solidFill>
            <a:srgbClr val="14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8" y="1234439"/>
            <a:ext cx="29535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Optimize revenue levers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1572768"/>
            <a:ext cx="2953512" cy="2167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t>Use category, item, payment and location views to identify commercial experiments and operational improvements.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097280"/>
            <a:ext cx="333756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097280"/>
            <a:ext cx="73152" cy="2788920"/>
          </a:xfrm>
          <a:prstGeom prst="rect">
            <a:avLst/>
          </a:prstGeom>
          <a:solidFill>
            <a:srgbClr val="695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30768" y="1234439"/>
            <a:ext cx="29535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Expand customer economics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1572768"/>
            <a:ext cx="2953512" cy="2167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t>Add acquisition cost, customer history and product cost to enable CAC, retention, churn and margin analysis.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2519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2A42"/>
                </a:solidFill>
              </a:defRPr>
            </a:pPr>
            <a:r>
              <a:t>ROI measurement framework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66344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4663440"/>
            <a:ext cx="73152" cy="1143000"/>
          </a:xfrm>
          <a:prstGeom prst="rect">
            <a:avLst/>
          </a:prstGeom>
          <a:solidFill>
            <a:srgbClr val="14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8" y="4800600"/>
            <a:ext cx="3044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Revenue 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5138927"/>
            <a:ext cx="304495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t>Track sales, transaction value, category mix and item contribution.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466344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89120" y="4663440"/>
            <a:ext cx="73152" cy="1143000"/>
          </a:xfrm>
          <a:prstGeom prst="rect">
            <a:avLst/>
          </a:prstGeom>
          <a:solidFill>
            <a:srgbClr val="E7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90288" y="4800600"/>
            <a:ext cx="3044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Efficiency impact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0288" y="5138927"/>
            <a:ext cx="304495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t>Track payment mix, location/channel concentration and operational friction.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466344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92440" y="4663440"/>
            <a:ext cx="73152" cy="1143000"/>
          </a:xfrm>
          <a:prstGeom prst="rect">
            <a:avLst/>
          </a:prstGeom>
          <a:solidFill>
            <a:srgbClr val="695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93608" y="4800600"/>
            <a:ext cx="3044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Customer impact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3608" y="5138927"/>
            <a:ext cx="304495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03D"/>
                </a:solidFill>
              </a:defRPr>
            </a:pPr>
            <a:r>
              <a:t>Track acquisition cost, repeat rate, retention and churn once data is available.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" y="6473952"/>
            <a:ext cx="11292840" cy="18288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11. Recommended Next-Version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EDDEE"/>
                </a:solidFill>
              </a:defRPr>
            </a:pPr>
            <a:r>
              <a:t>Keep your current work; strengthen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960120"/>
            <a:ext cx="106984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188720"/>
            <a:ext cx="1920240" cy="384048"/>
          </a:xfrm>
          <a:prstGeom prst="roundRect">
            <a:avLst/>
          </a:prstGeom>
          <a:solidFill>
            <a:srgbClr val="276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28016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EXECUTIVE KPI 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18872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22A42"/>
                </a:solidFill>
              </a:defRPr>
            </a:pPr>
            <a:r>
              <a:t>Total Sales • Transactions • Unique Customers • AOV • Margin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75688"/>
            <a:ext cx="106984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2304288"/>
            <a:ext cx="1920240" cy="384048"/>
          </a:xfrm>
          <a:prstGeom prst="roundRect">
            <a:avLst/>
          </a:prstGeom>
          <a:solidFill>
            <a:srgbClr val="14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39572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304288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22A42"/>
                </a:solidFill>
              </a:defRPr>
            </a:pPr>
            <a:r>
              <a:t>Monthly Sales • YoY/MoM • Category trend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91256"/>
            <a:ext cx="106984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4400" y="3419856"/>
            <a:ext cx="1920240" cy="384048"/>
          </a:xfrm>
          <a:prstGeom prst="roundRect">
            <a:avLst/>
          </a:prstGeom>
          <a:solidFill>
            <a:srgbClr val="695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511296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CUSTOMER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41985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22A42"/>
                </a:solidFill>
              </a:defRPr>
            </a:pPr>
            <a:r>
              <a:t>Unique • New • Repeat • Retention • CAC • Churn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06824"/>
            <a:ext cx="106984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14400" y="4535424"/>
            <a:ext cx="1920240" cy="384048"/>
          </a:xfrm>
          <a:prstGeom prst="roundRect">
            <a:avLst/>
          </a:prstGeom>
          <a:solidFill>
            <a:srgbClr val="E7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626864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4535424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22A42"/>
                </a:solidFill>
              </a:defRPr>
            </a:pPr>
            <a:r>
              <a:t>Payment mix • Location • Item • Discount • Returns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62356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F7E"/>
                </a:solidFill>
              </a:defRPr>
            </a:pPr>
            <a:r>
              <a:t>Your submitted PBIX already provides the foundation; the next version mainly needs stronger customer economics and KPI definitions.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6473952"/>
            <a:ext cx="11292840" cy="18288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t>12. Conclusion &amp; Portfolio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BE7F3"/>
                </a:solidFill>
              </a:defRPr>
            </a:pPr>
            <a:r>
              <a:t>The submitted Power BI dashboard is a usable sales-analysis foundation. The executive layer should focus on the signals it already exposes—sales, transaction volume, customer reach, time, category, item, payment and location—while clearly separating unavailable KPIs from measured 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063240"/>
            <a:ext cx="3246120" cy="1417320"/>
          </a:xfrm>
          <a:prstGeom prst="roundRect">
            <a:avLst/>
          </a:prstGeom>
          <a:solidFill>
            <a:srgbClr val="14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340156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MEASURE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822191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FFFFFF"/>
                </a:solidFill>
              </a:defRPr>
            </a:pPr>
            <a:r>
              <a:t>Use the existing KPI cards and trends consistently.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79" y="3063240"/>
            <a:ext cx="3246120" cy="1417320"/>
          </a:xfrm>
          <a:prstGeom prst="roundRect">
            <a:avLst/>
          </a:prstGeom>
          <a:solidFill>
            <a:srgbClr val="276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9159" y="340156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EXPLAIN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3822191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FFFFFF"/>
                </a:solidFill>
              </a:defRPr>
            </a:pPr>
            <a:r>
              <a:t>Connect category, item, payment and location patterns.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19" y="3063240"/>
            <a:ext cx="3246120" cy="1417320"/>
          </a:xfrm>
          <a:prstGeom prst="roundRect">
            <a:avLst/>
          </a:prstGeom>
          <a:solidFill>
            <a:srgbClr val="E7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8199" y="340156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199" y="3822191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FFFFFF"/>
                </a:solidFill>
              </a:defRPr>
            </a:pPr>
            <a:r>
              <a:t>Apply the three recommendations and 90-day roadmap.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74920"/>
            <a:ext cx="10515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7CCDF"/>
                </a:solidFill>
              </a:defRPr>
            </a:pPr>
            <a:r>
              <a:rPr dirty="0"/>
              <a:t>Task 04 EDA: </a:t>
            </a:r>
            <a:r>
              <a:rPr lang="en-IN" dirty="0"/>
              <a:t>https://github.com/pranavshinde1622/RabTech-Data-Analytics-Internship.git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777240" y="5440680"/>
            <a:ext cx="10515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7CCDF"/>
                </a:solidFill>
              </a:defRPr>
            </a:pPr>
            <a:r>
              <a:rPr dirty="0"/>
              <a:t>Task 05 Power BI: </a:t>
            </a:r>
            <a:r>
              <a:rPr lang="en-IN" dirty="0"/>
              <a:t>https://github.com/pranavshinde1622/RabTech-Data-Analytics-Internship.git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1422</Words>
  <Application>Microsoft Office PowerPoint</Application>
  <PresentationFormat>Widescreen</PresentationFormat>
  <Paragraphs>199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pranav shinde</cp:lastModifiedBy>
  <cp:revision>2</cp:revision>
  <dcterms:created xsi:type="dcterms:W3CDTF">2013-01-27T09:14:16Z</dcterms:created>
  <dcterms:modified xsi:type="dcterms:W3CDTF">2026-09-18T06:34:41Z</dcterms:modified>
  <cp:category/>
</cp:coreProperties>
</file>